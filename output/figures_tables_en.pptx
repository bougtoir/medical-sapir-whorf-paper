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/>
            </a:pPr>
            <a:r>
              <a:t>The Nosological Imperative</a:t>
            </a:r>
          </a:p>
          <a:p>
            <a:pPr algn="ctr">
              <a:defRPr sz="1600">
                <a:solidFill>
                  <a:srgbClr val="646464"/>
                </a:solidFill>
              </a:defRPr>
            </a:pPr>
            <a:r>
              <a:t>Figures and Tables — English Version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/>
            </a:pPr>
            <a:r>
              <a:t>Figure 1. The Nosological Therapeutic Loop (NTL)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6199104" y="1508760"/>
            <a:ext cx="316757" cy="182880"/>
          </a:xfrm>
          <a:prstGeom prst="line">
            <a:avLst/>
          </a:prstGeom>
          <a:ln w="2540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228565" y="2926080"/>
            <a:ext cx="0" cy="365759"/>
          </a:xfrm>
          <a:prstGeom prst="line">
            <a:avLst/>
          </a:prstGeom>
          <a:ln w="2540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>
            <a:off x="6199104" y="4526280"/>
            <a:ext cx="316757" cy="182880"/>
          </a:xfrm>
          <a:prstGeom prst="line">
            <a:avLst/>
          </a:prstGeom>
          <a:ln w="2540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H="1" flipV="1">
            <a:off x="4456938" y="4526280"/>
            <a:ext cx="316757" cy="182880"/>
          </a:xfrm>
          <a:prstGeom prst="line">
            <a:avLst/>
          </a:prstGeom>
          <a:ln w="2540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3744234" y="2926080"/>
            <a:ext cx="0" cy="365760"/>
          </a:xfrm>
          <a:prstGeom prst="line">
            <a:avLst/>
          </a:prstGeom>
          <a:ln w="2540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4456938" y="1508760"/>
            <a:ext cx="316757" cy="182880"/>
          </a:xfrm>
          <a:prstGeom prst="line">
            <a:avLst/>
          </a:prstGeom>
          <a:ln w="25400">
            <a:solidFill>
              <a:srgbClr val="9696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663440" y="502920"/>
            <a:ext cx="1645920" cy="1188720"/>
          </a:xfrm>
          <a:prstGeom prst="round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N</a:t>
            </a:r>
          </a:p>
          <a:p>
            <a:pPr algn="ctr"/>
            <a:r>
              <a:rPr sz="1100">
                <a:solidFill>
                  <a:srgbClr val="FFFFFF"/>
                </a:solidFill>
              </a:rPr>
              <a:t>Nosological
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-7315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505050"/>
                </a:solidFill>
              </a:defRPr>
            </a:pPr>
            <a:r>
              <a:t>Disease category</a:t>
            </a:r>
            <a:br/>
            <a:r>
              <a:t>created/refined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5605" y="1508760"/>
            <a:ext cx="1645920" cy="118872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V</a:t>
            </a:r>
          </a:p>
          <a:p>
            <a:pPr algn="ctr"/>
            <a:r>
              <a:rPr sz="1100">
                <a:solidFill>
                  <a:srgbClr val="FFFFFF"/>
                </a:solidFill>
              </a:rPr>
              <a:t>Patient
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6915" y="100584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505050"/>
                </a:solidFill>
              </a:defRPr>
            </a:pPr>
            <a:r>
              <a:t>Name reduces</a:t>
            </a:r>
            <a:br/>
            <a:r>
              <a:t>diagnostic uncertainty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5605" y="3520439"/>
            <a:ext cx="1645920" cy="118872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A</a:t>
            </a:r>
          </a:p>
          <a:p>
            <a:pPr algn="ctr"/>
            <a:r>
              <a:rPr sz="1100">
                <a:solidFill>
                  <a:srgbClr val="FFFFFF"/>
                </a:solidFill>
              </a:rPr>
              <a:t>Clinical
Attention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6915" y="448056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505050"/>
                </a:solidFill>
              </a:defRPr>
            </a:pPr>
            <a:r>
              <a:t>New cognitive</a:t>
            </a:r>
            <a:br/>
            <a:r>
              <a:t>categories for clinicians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63440" y="4526280"/>
            <a:ext cx="1645920" cy="1188720"/>
          </a:xfrm>
          <a:prstGeom prst="round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R</a:t>
            </a:r>
          </a:p>
          <a:p>
            <a:pPr algn="ctr"/>
            <a:r>
              <a:rPr sz="1100">
                <a:solidFill>
                  <a:srgbClr val="FFFFFF"/>
                </a:solidFill>
              </a:rPr>
              <a:t>Research
Investment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621792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505050"/>
                </a:solidFill>
              </a:defRPr>
            </a:pPr>
            <a:r>
              <a:t>Funding &amp; trials</a:t>
            </a:r>
            <a:br/>
            <a:r>
              <a:t>organized around category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1274" y="3520440"/>
            <a:ext cx="1645920" cy="1188720"/>
          </a:xfrm>
          <a:prstGeom prst="round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T</a:t>
            </a:r>
          </a:p>
          <a:p>
            <a:pPr algn="ctr"/>
            <a:r>
              <a:rPr sz="1100">
                <a:solidFill>
                  <a:srgbClr val="FFFFFF"/>
                </a:solidFill>
              </a:rPr>
              <a:t>Treatment
Development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8524" y="448056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505050"/>
                </a:solidFill>
              </a:defRPr>
            </a:pPr>
            <a:r>
              <a:t>New therapeutics</a:t>
            </a:r>
            <a:br/>
            <a:r>
              <a:t>for named condition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921274" y="1508760"/>
            <a:ext cx="1645920" cy="1188720"/>
          </a:xfrm>
          <a:prstGeom prst="roundRect">
            <a:avLst/>
          </a:prstGeom>
          <a:solidFill>
            <a:srgbClr val="673A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</a:rPr>
              <a:t>N′</a:t>
            </a:r>
          </a:p>
          <a:p>
            <a:pPr algn="ctr"/>
            <a:r>
              <a:rPr sz="1100">
                <a:solidFill>
                  <a:srgbClr val="FFFFFF"/>
                </a:solidFill>
              </a:rPr>
              <a:t>Nosological
Refinement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8524" y="1005839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>
                <a:solidFill>
                  <a:srgbClr val="505050"/>
                </a:solidFill>
              </a:defRPr>
            </a:pPr>
            <a:r>
              <a:t>Category revised</a:t>
            </a:r>
            <a:br/>
            <a:r>
              <a:t>based on evidence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2468880"/>
            <a:ext cx="1828800" cy="1280160"/>
          </a:xfrm>
          <a:prstGeom prst="roundRect">
            <a:avLst/>
          </a:prstGeom>
          <a:solidFill>
            <a:srgbClr val="F4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BOUNDARY
CONDITION</a:t>
            </a:r>
          </a:p>
          <a:p>
            <a:pPr algn="ctr"/>
            <a:r>
              <a:rPr sz="900">
                <a:solidFill>
                  <a:srgbClr val="FFDCDC"/>
                </a:solidFill>
              </a:rPr>
              <a:t>Without empirical
grounding →
Disease Mongering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21792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i="1"/>
            </a:pPr>
            <a:r>
              <a:t>Figure 1. The Nosological Therapeutic Loop (NTL). Disease naming triggers a self-reinforcing cycle through six stages.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/>
            </a:pPr>
            <a:r>
              <a:t>Table 1. ICD-11 Chronic Pain Classification (MG30)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27729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6"/>
              </a:tblGrid>
              <a:tr h="51435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ICD-11 Code</a:t>
                      </a:r>
                    </a:p>
                  </a:txBody>
                  <a:tcPr>
                    <a:solidFill>
                      <a:srgbClr val="296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296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Key Innovation over ICD-10</a:t>
                      </a:r>
                    </a:p>
                  </a:txBody>
                  <a:tcPr>
                    <a:solidFill>
                      <a:srgbClr val="296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Sapir-Whorf Implication</a:t>
                      </a:r>
                    </a:p>
                  </a:txBody>
                  <a:tcPr>
                    <a:solidFill>
                      <a:srgbClr val="2962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MG30.0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Chronic primary pain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Pain as disease entity, not symptom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Validates pain without identifiable cause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MG30.1</a:t>
                      </a:r>
                    </a:p>
                  </a:txBody>
                  <a:tcPr>
                    <a:solidFill>
                      <a:srgbClr val="F0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Chronic cancer-related pain</a:t>
                      </a:r>
                    </a:p>
                  </a:txBody>
                  <a:tcPr>
                    <a:solidFill>
                      <a:srgbClr val="F0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Distinguishes cancer pain from cancer</a:t>
                      </a:r>
                    </a:p>
                  </a:txBody>
                  <a:tcPr>
                    <a:solidFill>
                      <a:srgbClr val="F0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Enables pain-specific treatment alongside oncology</a:t>
                      </a:r>
                    </a:p>
                  </a:txBody>
                  <a:tcPr>
                    <a:solidFill>
                      <a:srgbClr val="F0F0F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MG30.2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Chronic postsurgical/post-traumatic pain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Previously invisible 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Makes iatrogenic chronification visible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MG30.3</a:t>
                      </a:r>
                    </a:p>
                  </a:txBody>
                  <a:tcPr>
                    <a:solidFill>
                      <a:srgbClr val="F0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Chronic secondary MSK pain</a:t>
                      </a:r>
                    </a:p>
                  </a:txBody>
                  <a:tcPr>
                    <a:solidFill>
                      <a:srgbClr val="F0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Differentiates chronic from acute MSK</a:t>
                      </a:r>
                    </a:p>
                  </a:txBody>
                  <a:tcPr>
                    <a:solidFill>
                      <a:srgbClr val="F0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Shifts framing to pain chronification</a:t>
                      </a:r>
                    </a:p>
                  </a:txBody>
                  <a:tcPr>
                    <a:solidFill>
                      <a:srgbClr val="F0F0F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MG30.4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Chronic secondary visceral pain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Previously organ-specific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Recognizes pain as independent clinical target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MG30.5</a:t>
                      </a:r>
                    </a:p>
                  </a:txBody>
                  <a:tcPr>
                    <a:solidFill>
                      <a:srgbClr val="F0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Chronic neuropathic pain</a:t>
                      </a:r>
                    </a:p>
                  </a:txBody>
                  <a:tcPr>
                    <a:solidFill>
                      <a:srgbClr val="F0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Unified category across etiologies</a:t>
                      </a:r>
                    </a:p>
                  </a:txBody>
                  <a:tcPr>
                    <a:solidFill>
                      <a:srgbClr val="F0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Creates coherent research framework</a:t>
                      </a:r>
                    </a:p>
                  </a:txBody>
                  <a:tcPr>
                    <a:solidFill>
                      <a:srgbClr val="F0F0F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MG30.6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Chronic secondary headache/orofacial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Chronic-specific classification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Distinguishes chronic management from acute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9436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i="1"/>
            </a:pPr>
            <a:r>
              <a:t>Table 1. ICD-11 Chronic Pain Classification (MG30) with Medical Sapir-Whorf implications. Each category represents a nosological innovation over ICD-10 with specific implications for clinical cognition and patient experience.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/>
            </a:pPr>
            <a:r>
              <a:t>Table 2. Therapeutic Naming vs. Disease Mongering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27729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10287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296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Therapeutic Naming</a:t>
                      </a:r>
                    </a:p>
                  </a:txBody>
                  <a:tcPr>
                    <a:solidFill>
                      <a:srgbClr val="296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Disease Mongering</a:t>
                      </a:r>
                    </a:p>
                  </a:txBody>
                  <a:tcPr>
                    <a:solidFill>
                      <a:srgbClr val="2962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Origin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Driven by clinical need and patient suffering; expert consensus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Driven by commercial interest; pharmaceutical marketing</a:t>
                      </a:r>
                    </a:p>
                  </a:txBody>
                  <a:tcPr/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Evidence base</a:t>
                      </a:r>
                    </a:p>
                  </a:txBody>
                  <a:tcPr>
                    <a:solidFill>
                      <a:srgbClr val="F0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Grounded in empirical observation; validated through field testing</a:t>
                      </a:r>
                    </a:p>
                  </a:txBody>
                  <a:tcPr>
                    <a:solidFill>
                      <a:srgbClr val="F0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Based on medicalization of normal variation; limited validation</a:t>
                      </a:r>
                    </a:p>
                  </a:txBody>
                  <a:tcPr>
                    <a:solidFill>
                      <a:srgbClr val="F0F0FA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Outcome trajectory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Improved patient outcomes, better resource allocation (NTL positive cycle)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Overdiagnosis, unnecessary treatment, iatrogenic harm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94360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i="1"/>
            </a:pPr>
            <a:r>
              <a:t>Table 2. Distinguishing therapeutic naming from disease mongering along three dimensions: origin, evidence base, and outcome trajectory.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