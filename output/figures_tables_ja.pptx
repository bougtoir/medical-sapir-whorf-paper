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t>疾患命名の治療的意義</a:t>
            </a:r>
          </a:p>
          <a:p>
            <a:pPr algn="ctr">
              <a:defRPr sz="1600">
                <a:solidFill>
                  <a:srgbClr val="646464"/>
                </a:solidFill>
              </a:defRPr>
            </a:pPr>
            <a:r>
              <a:t>図表 — 日本語版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/>
            </a:pPr>
            <a:r>
              <a:t>図1. 疾患命名治療ループ（NTL）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199104" y="1508760"/>
            <a:ext cx="316757" cy="18288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228565" y="2926080"/>
            <a:ext cx="0" cy="365759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6199104" y="4526280"/>
            <a:ext cx="316757" cy="18288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4456938" y="4526280"/>
            <a:ext cx="316757" cy="18288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3744234" y="2926080"/>
            <a:ext cx="0" cy="36576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456938" y="1508760"/>
            <a:ext cx="316757" cy="18288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63440" y="502920"/>
            <a:ext cx="1645920" cy="1188720"/>
          </a:xfrm>
          <a:prstGeom prst="round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N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疾患命名
行為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-7315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疾患カテゴリーの</a:t>
            </a:r>
            <a:br/>
            <a:r>
              <a:t>創設・精緻化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5605" y="1508760"/>
            <a:ext cx="1645920" cy="11887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V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患者の
承認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6915" y="10058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診断的不確実性の</a:t>
            </a:r>
            <a:br/>
            <a:r>
              <a:t>軽減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5605" y="3520439"/>
            <a:ext cx="1645920" cy="11887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臨床的
注目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6915" y="4480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新たな認知</a:t>
            </a:r>
            <a:br/>
            <a:r>
              <a:t>カテゴリーの獲得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526280"/>
            <a:ext cx="1645920" cy="11887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R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研究
投資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6217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資金・試験の</a:t>
            </a:r>
            <a:br/>
            <a:r>
              <a:t>カテゴリー周辺への組織化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1274" y="3520440"/>
            <a:ext cx="1645920" cy="118872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T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治療
開発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8524" y="4480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命名された状態への</a:t>
            </a:r>
            <a:br/>
            <a:r>
              <a:t>新治療法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1274" y="1508760"/>
            <a:ext cx="1645920" cy="118872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N′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疾患命名の
精緻化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8524" y="1005839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エビデンスに基づく</a:t>
            </a:r>
            <a:br/>
            <a:r>
              <a:t>カテゴリー改訂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2468880"/>
            <a:ext cx="1828800" cy="12801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境界条件</a:t>
            </a:r>
          </a:p>
          <a:p>
            <a:pPr algn="ctr"/>
            <a:r>
              <a:rPr sz="900">
                <a:solidFill>
                  <a:srgbClr val="FFDCDC"/>
                </a:solidFill>
              </a:rPr>
              <a:t>実証的根拠なき場合
→ 疾患喇伝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i="1"/>
            </a:pPr>
            <a:r>
              <a:t>図1. 疾患命名治療ループ（NTL）。疾患命名が6つの段階を経る自己強化サイクルを誘発する。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/>
            </a:pPr>
            <a:r>
              <a:t>表1. ICD-11慢性疼痛分類（MG30）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ICD-11コード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カテゴリー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ICD-10からの革新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サピア＝ウォーフ的含意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MG30.0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慢性一次性疼痛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疼痛を症状ではなく疾患として認定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原因不明の疼痛を承認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MG30.1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慢性がん関連疼痛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がんの疼痛をがんそのものから区別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疼痛特異的治療を可能に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MG30.2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慢性術後・外傷後疼痛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以前は不可視のカテゴリー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医原性慢性化を可視化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MG30.3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慢性二次性筋骨格系疼痛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慢性と急性を区別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疼痛慢性化への枠組み転換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MG30.4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慢性二次性内臓痛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以前は臓器特異的診断のみ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疼痛を独立した臨床ターゲットとして認識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MG30.5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慢性神経障害性疼痛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病因横断的な統一カテゴリー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一貫した研究枠組みを創出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MG30.6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慢性二次性頭痛・口腔顔面痛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慢性特異的分類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慢性管理を急性から区別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i="1"/>
            </a:pPr>
            <a:r>
              <a:t>表1. ICD-11慢性疼痛分類（MG30）と医療版サピア＝ウォーフ仮説の含意。各カテゴリーはICD-10からの疾患命名的革新とその臨床認知・患者経験への含意を示す。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/>
            </a:pPr>
            <a:r>
              <a:t>表2. 治療的命名 vs. 疾患喇伝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10287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次元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治療的命名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疾患喇伝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起源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臨床的必要性と患者の苦痛が駆動；専門家コンセンサス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商業的利益が駆動；製薬マーケティング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エビデンス基盤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経験的観察に基礎づけ；フィールドテストで検証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正常変異の医療化；独立した検証が限定的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アウトカム軌道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患者アウトカムの改善、資源配分の改善（NTL正のサイクル）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過剰診断、不必要な治療、医原性傷害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i="1"/>
            </a:pPr>
            <a:r>
              <a:t>表2. 治療的命名と疾患喇伝の区別。起源、エビデンス基盤、アウトカム軌道の三次元に沿った比較。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